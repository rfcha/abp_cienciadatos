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77" y="1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MP2.5 (µg/m³)</c:v>
                </c:pt>
              </c:strCache>
            </c:strRef>
          </c:tx>
          <c:spPr>
            <a:ln w="38100" cap="flat">
              <a:solidFill>
                <a:srgbClr val="A619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6192E"/>
              </a:solidFill>
              <a:ln w="9525" cap="flat">
                <a:solidFill>
                  <a:srgbClr val="A6192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20</c:v>
                </c:pt>
                <c:pt idx="2">
                  <c:v>26</c:v>
                </c:pt>
                <c:pt idx="3">
                  <c:v>38</c:v>
                </c:pt>
                <c:pt idx="4">
                  <c:v>55</c:v>
                </c:pt>
                <c:pt idx="5">
                  <c:v>74</c:v>
                </c:pt>
                <c:pt idx="6">
                  <c:v>80</c:v>
                </c:pt>
                <c:pt idx="7">
                  <c:v>68</c:v>
                </c:pt>
                <c:pt idx="8">
                  <c:v>49</c:v>
                </c:pt>
                <c:pt idx="9">
                  <c:v>33</c:v>
                </c:pt>
                <c:pt idx="10">
                  <c:v>25</c:v>
                </c:pt>
                <c:pt idx="11">
                  <c:v>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961-46C9-870E-FFEA17412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6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52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200400"/>
            <a:ext cx="5943600" cy="5943600"/>
          </a:xfrm>
          <a:prstGeom prst="ellipse">
            <a:avLst/>
          </a:prstGeom>
          <a:solidFill>
            <a:srgbClr val="16345C">
              <a:alpha val="4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784080" y="-1463040"/>
            <a:ext cx="3291840" cy="3291840"/>
          </a:xfrm>
          <a:prstGeom prst="ellipse">
            <a:avLst/>
          </a:prstGeom>
          <a:solidFill>
            <a:srgbClr val="A6192E">
              <a:alpha val="3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  ·  MCDI500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914400" cy="914400"/>
          </a:xfrm>
          <a:prstGeom prst="ellipse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2996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80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Aire en Santiago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Episodios Críticos de Material Particulado Fino (MP2.5)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Final · Fase 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3   </a:t>
            </a:r>
            <a:r>
              <a:rPr lang="en-US" sz="1300" dirty="0">
                <a:solidFill>
                  <a:srgbClr val="C9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Rodrigo Chinchón  ·  Sergio Fernández  ·  Pablo Villalobos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Omar Salinas Silva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1188720" y="28806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471411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la pregunta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106249"/>
            <a:ext cx="54864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vive cada año episodios de contaminación atmosférica que afectan directamente la salud de las personas, sobre todo en los meses fríos.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39521"/>
            <a:ext cx="5486400" cy="1692805"/>
          </a:xfrm>
          <a:prstGeom prst="roundRect">
            <a:avLst>
              <a:gd name="adj" fmla="val 4444"/>
            </a:avLst>
          </a:prstGeom>
          <a:solidFill>
            <a:srgbClr val="0B234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822960" y="2199947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INVESTIGACIÓN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541944"/>
            <a:ext cx="4937760" cy="9877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¿Podemos detectar de forma automática y eficiente cuándo ocurre un episodio crítico de MP2.5, y entender con qué condiciones se </a:t>
            </a:r>
            <a:r>
              <a:rPr lang="en-US" sz="17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</a:t>
            </a: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0" y="1242299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629400" y="1544051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81211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425179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1809227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episodios críticos de MP2.5 de forma automática.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0" y="2659619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6629400" y="2961371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098531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0" y="2842499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498080" y="3226547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 patrones temporales y territoriales.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0" y="4076939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6"/>
          <p:cNvSpPr/>
          <p:nvPr/>
        </p:nvSpPr>
        <p:spPr>
          <a:xfrm>
            <a:off x="6629400" y="4378691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15851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259819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98080" y="4643867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Garantizar un proceso reproducible y verificable.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31" name="Imagen 30" descr="ilustración de vector de icono de color de fuego de humo 18993806 Vector en Vecteezy">
            <a:extLst>
              <a:ext uri="{FF2B5EF4-FFF2-40B4-BE49-F238E27FC236}">
                <a16:creationId xmlns:a16="http://schemas.microsoft.com/office/drawing/2014/main" id="{8C1A14DF-EAA4-6BC9-AAD6-5B22ABD7ED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08" y="509341"/>
            <a:ext cx="354112" cy="35411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82598AFF-998A-7E03-713A-733BA5383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608" y="4003227"/>
            <a:ext cx="3590855" cy="18899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SINCA y preparación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0B234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SINCA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3969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Información Nacional de Calidad del Aire — datos reales de monitoreo de Santiago.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231853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PRINCIPALES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539371"/>
            <a:ext cx="530352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particulado: </a:t>
            </a:r>
            <a:r>
              <a:rPr lang="en-US" sz="14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MP2.5 y MP10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meteorológicas asociadas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horario por estación / comuna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DEL DATASET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214884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6492240" y="2304288"/>
            <a:ext cx="402336" cy="402336"/>
          </a:xfrm>
          <a:prstGeom prst="ellipse">
            <a:avLst/>
          </a:prstGeom>
          <a:solidFill>
            <a:srgbClr val="0B23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49224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86600" y="214884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de datos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09360" y="2990088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6492240" y="3145536"/>
            <a:ext cx="402336" cy="402336"/>
          </a:xfrm>
          <a:prstGeom prst="ellipse">
            <a:avLst/>
          </a:prstGeom>
          <a:solidFill>
            <a:srgbClr val="0B23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6492240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86600" y="299008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valores faltantes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309360" y="3831336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6492240" y="3986784"/>
            <a:ext cx="402336" cy="402336"/>
          </a:xfrm>
          <a:prstGeom prst="ellipse">
            <a:avLst/>
          </a:prstGeom>
          <a:solidFill>
            <a:srgbClr val="0B23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4922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86600" y="383133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309360" y="4672584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2"/>
          <p:cNvSpPr/>
          <p:nvPr/>
        </p:nvSpPr>
        <p:spPr>
          <a:xfrm>
            <a:off x="6492240" y="4828032"/>
            <a:ext cx="402336" cy="402336"/>
          </a:xfrm>
          <a:prstGeom prst="ellipse">
            <a:avLst/>
          </a:prstGeom>
          <a:solidFill>
            <a:srgbClr val="0B234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64922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086600" y="467258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dataset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5532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una base íntegra, estable y completamente reproducible.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52FFF6D8-1C56-FCC2-C37B-13A8BC17F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16374"/>
            <a:ext cx="548640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etapas de trabajo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822960" y="207568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240280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C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1783080" y="2130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de datos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8680" y="2926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Caracterización del comportamiento del MP2.5.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7830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6537960" y="207568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240280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6988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C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7498080" y="2130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eficientes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583680" y="2926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binaria recursiva (umbral) y merge sort recursivo (orden).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4"/>
          <p:cNvSpPr/>
          <p:nvPr/>
        </p:nvSpPr>
        <p:spPr>
          <a:xfrm>
            <a:off x="822960" y="413308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297680"/>
            <a:ext cx="448056" cy="4480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488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C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1783080" y="4187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técnicas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68680" y="4983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normales, casos límite y excepciones.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63640" y="3840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19"/>
          <p:cNvSpPr/>
          <p:nvPr/>
        </p:nvSpPr>
        <p:spPr>
          <a:xfrm>
            <a:off x="6537960" y="413308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4297680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46988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C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7498080" y="4187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6583680" y="4983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virtual, dependencias controladas y versionado en GitHub.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y estacionalidad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234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central:  </a:t>
            </a:r>
            <a:r>
              <a:rPr lang="en-US" sz="1450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identifican episodios críticos de MP2.5 asociados a determinadas condiciones meteorológicas, con fuerte estacionalidad en meses fríos.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MENSUAL DEL MP2.5 (PATRÓN ESTACIONAL)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3154680"/>
          <a:ext cx="11064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ilustrativos del patrón observado · concentraciones notablemente mayores en invierno.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76656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algorítmica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095835"/>
            <a:ext cx="5349240" cy="1347201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68680" y="112023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BINARIA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393745"/>
            <a:ext cx="4709160" cy="50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68680" y="189730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 el umbral crítico sobre datos ordenados, reduciendo de forma medible las comparaciones frente a la búsqueda lineal.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095835"/>
            <a:ext cx="5349240" cy="1347201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6583680" y="112023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 NUMPY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1385016"/>
            <a:ext cx="4709160" cy="423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≫ bucle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583680" y="189730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cálculo vectorizado supera ampliamente al bucle tradicional de Python en el mismo procesamiento.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9321" y="24838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COMPARACIONES PARA LOCALIZAR EL UMBRAL (MENOR ES MEJOR) 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sobre ~8.760 registros horarios anuales: la búsqueda binaria reduce de miles a una decena de comparaciones.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1FAF63D-5020-319C-34AD-4B5B8D55A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256" y="2778940"/>
            <a:ext cx="6167488" cy="3484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 del análisis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0B234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21284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lo técnico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310896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automatiza todo el flujo de trabajo.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y NumPy aportan eficiencia de cómputo.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POO mejora la mantenibilidad del código.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7830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6583680" y="2057400"/>
            <a:ext cx="731520" cy="731520"/>
          </a:xfrm>
          <a:prstGeom prst="ellipse">
            <a:avLst/>
          </a:prstGeom>
          <a:solidFill>
            <a:srgbClr val="0B234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21284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lo analítico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29400" y="310896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MP2.5 presenta episodios críticos detectables.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episodios son caracterizables por estación y mes.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confirman patrones territoriales entre comunas.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trabajo futuro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94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03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29718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faltantes en parte del registro.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desigual entre estaciones.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acotado de variables meteorológicas.</a:t>
            </a:r>
            <a:endParaRPr lang="en-US" sz="1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no implica causalidad: describimos patrones, no relaciones causales directas.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78308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0B234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1945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103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29400" y="29718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machine learning predictivo.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de series temporales para capturar la estacionalidad.</a:t>
            </a:r>
            <a:endParaRPr lang="en-US" sz="145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datos climáticos adicionales.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F4F6F8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1188720" y="27471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52144" y="528260"/>
            <a:ext cx="10058400" cy="31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 </a:t>
            </a:r>
            <a:r>
              <a:rPr lang="en-US" sz="3000" b="1" dirty="0">
                <a:solidFill>
                  <a:srgbClr val="0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y colaboración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52144" y="814811"/>
            <a:ext cx="110642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colaborativo de los tres integrantes, con evidencia trazable en el repositorio de GitHub.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84576" y="4482014"/>
            <a:ext cx="3538728" cy="14117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667456" y="4565453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60" y="4711757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696" y="4810332"/>
            <a:ext cx="2331720" cy="29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por fases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58896" y="5299435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organizado en F1–F4, reflejando todo el ciclo del proyecto.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51904" y="4482013"/>
            <a:ext cx="3538728" cy="1411781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4502956" y="4588587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260" y="4734891"/>
            <a:ext cx="393192" cy="3931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39808" y="4880239"/>
            <a:ext cx="2103935" cy="289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526224" y="5299435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Commits, ramas y pull requests sobre una rama principal protegida.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19232" y="4482013"/>
            <a:ext cx="3538728" cy="1411781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3"/>
          <p:cNvSpPr/>
          <p:nvPr/>
        </p:nvSpPr>
        <p:spPr>
          <a:xfrm>
            <a:off x="8293552" y="4613635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856" y="4759939"/>
            <a:ext cx="393192" cy="3931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79936" y="4866847"/>
            <a:ext cx="2231136" cy="3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 mejoras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293552" y="5299435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verificable de cambios y evolución del análisis.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84576" y="5990160"/>
            <a:ext cx="11064240" cy="425196"/>
          </a:xfrm>
          <a:prstGeom prst="roundRect">
            <a:avLst>
              <a:gd name="adj" fmla="val 11765"/>
            </a:avLst>
          </a:prstGeom>
          <a:solidFill>
            <a:srgbClr val="0B234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00" y="599016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53256" y="5990160"/>
            <a:ext cx="10058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github.com/Rfcha/abp_cienciadatos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ANDRÉS BELLO  ·  Magíster en Ciencia de Datos e IA  ·  MCDI500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27FAF715-4EFC-B584-78A7-60A9E5A26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74" y="455451"/>
            <a:ext cx="517779" cy="51777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2D4F4BED-98E8-9897-2559-9F3B6BD04A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9286" y="1181747"/>
            <a:ext cx="5793428" cy="32605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017520"/>
            <a:ext cx="5943600" cy="5943600"/>
          </a:xfrm>
          <a:prstGeom prst="ellipse">
            <a:avLst/>
          </a:prstGeom>
          <a:solidFill>
            <a:srgbClr val="16345C">
              <a:alpha val="4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A6192E">
              <a:alpha val="3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MAYOR APRENDIZAJE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ciencia de datos no termina en el resultado: termina cuando ese resultado se comunica de forma clara, reproducible y honesta.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3   </a:t>
            </a:r>
            <a:r>
              <a:rPr lang="en-US" sz="1300" dirty="0">
                <a:solidFill>
                  <a:srgbClr val="9F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Rodrigo Chinchón  ·  Sergio Fernández  ·  Pablo Villalobos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9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MCDI500 · Magíster en Ciencia de Datos e IA · Universidad Andrés Bello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764</Words>
  <Application>Microsoft Office PowerPoint</Application>
  <PresentationFormat>Panorámica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Calidad del Aire en Santiago — Detección de Episodios Críticos de MP2.5</dc:title>
  <dc:subject>PptxGenJS Presentation</dc:subject>
  <dc:creator>Grupo 3 — MCDI500</dc:creator>
  <cp:lastModifiedBy>Rodrigo Chinchon</cp:lastModifiedBy>
  <cp:revision>5</cp:revision>
  <dcterms:created xsi:type="dcterms:W3CDTF">2026-06-21T19:30:14Z</dcterms:created>
  <dcterms:modified xsi:type="dcterms:W3CDTF">2026-06-21T22:38:59Z</dcterms:modified>
</cp:coreProperties>
</file>